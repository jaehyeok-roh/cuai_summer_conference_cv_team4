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0" r:id="rId7"/>
  </p:sldIdLst>
  <p:sldSz cx="9144000" cy="5143500" type="screen16x9"/>
  <p:notesSz cx="6858000" cy="9144000"/>
  <p:embeddedFontLst>
    <p:embeddedFont>
      <p:font typeface="Nanum Gothic" panose="020B0600000101010101" charset="-127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hF9jdrkSd81mOCqnISMtt3bhXh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13" autoAdjust="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00f5af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ab00f5af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00f5af5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3ab00f5af5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AECF366-4F16-CFC5-4D0D-47B9BAFB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00f5af53_0_8:notes">
            <a:extLst>
              <a:ext uri="{FF2B5EF4-FFF2-40B4-BE49-F238E27FC236}">
                <a16:creationId xmlns:a16="http://schemas.microsoft.com/office/drawing/2014/main" id="{50E5CA57-F71A-B0EE-7BEF-0096A2166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ab00f5af53_0_8:notes">
            <a:extLst>
              <a:ext uri="{FF2B5EF4-FFF2-40B4-BE49-F238E27FC236}">
                <a16:creationId xmlns:a16="http://schemas.microsoft.com/office/drawing/2014/main" id="{27AC178C-EC40-157B-8374-DA5AAABBA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7576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226EE38-5DEA-2E67-E171-EB6A719D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00f5af53_0_8:notes">
            <a:extLst>
              <a:ext uri="{FF2B5EF4-FFF2-40B4-BE49-F238E27FC236}">
                <a16:creationId xmlns:a16="http://schemas.microsoft.com/office/drawing/2014/main" id="{1F96013C-8F22-1333-8883-485BFF14B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ab00f5af53_0_8:notes">
            <a:extLst>
              <a:ext uri="{FF2B5EF4-FFF2-40B4-BE49-F238E27FC236}">
                <a16:creationId xmlns:a16="http://schemas.microsoft.com/office/drawing/2014/main" id="{4A4277AD-CC30-8C78-9260-A117009A7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저희 프로젝트의 GPU 리소스 확보 계획에 대해 말씀드리겠습니다.</a:t>
            </a:r>
          </a:p>
          <a:p>
            <a:pPr marL="158750" indent="0">
              <a:buNone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저희는 6주 안에 의미 있는 성과를 내기 위해, 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VRAM 24GB 이상의 GPU 1대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를 3주 차부터 지원해 주시기를 요청합니다. </a:t>
            </a:r>
          </a:p>
          <a:p>
            <a:pPr marL="158750" indent="0">
              <a:buNone/>
            </a:pP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저희가 연구하는 JDC(동시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노이즈제거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-압축) 코덱은 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오토인코더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구조 특성상 일반 분류 모델보다 메모리를 훨씬 많이 차지합니다. 특히, '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용량'과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'</a:t>
            </a:r>
            <a:r>
              <a:rPr lang="ko-KR" altLang="ko-KR" sz="1100" b="0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화질'이라는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두 마리 토끼를 동시에 잡는 최적화 과정에서 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배치 사이즈(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Batch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ko-KR" sz="1100" b="1" i="0" u="none" strike="noStrike" cap="non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lang="ko-KR" altLang="ko-KR" sz="1100" b="1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)가 작으면 학습이 요동치고 터져버리는 고질적인 문제</a:t>
            </a:r>
            <a:r>
              <a:rPr lang="ko-KR" altLang="ko-KR" sz="1100" b="0" i="0" u="none" strike="noStrike" cap="non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가 있습니다.</a:t>
            </a:r>
            <a:endParaRPr i="0"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1970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0c4636b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9f0c4636b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</a:t>
            </a:r>
            <a:r>
              <a:rPr lang="ko-KR" altLang="en-US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하계</a:t>
            </a:r>
            <a:r>
              <a:rPr lang="ko" sz="2500" b="1" dirty="0">
                <a:solidFill>
                  <a:srgbClr val="19264B"/>
                </a:solidFill>
              </a:rPr>
              <a:t> 컨퍼런스 </a:t>
            </a:r>
            <a:r>
              <a:rPr lang="ko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CV </a:t>
            </a:r>
            <a:r>
              <a:rPr lang="en-US" altLang="ko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ko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endParaRPr sz="2500" b="1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alt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alt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r>
              <a:rPr 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altLang="ko" sz="14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altLang="ko" dirty="0">
                <a:solidFill>
                  <a:srgbClr val="19264B"/>
                </a:solidFill>
              </a:rPr>
              <a:t>7</a:t>
            </a:r>
            <a:endParaRPr sz="1400" b="0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-KR" altLang="en-US" sz="1100" b="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노재혁</a:t>
            </a:r>
            <a:endParaRPr sz="1100" b="0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Problem</a:t>
            </a:r>
            <a:endParaRPr sz="2000" b="1" i="0" u="none" strike="noStrike" cap="none" dirty="0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93100" y="1202045"/>
            <a:ext cx="7478025" cy="31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- </a:t>
            </a:r>
            <a:r>
              <a:rPr lang="ko-KR" altLang="en-US" sz="1300" dirty="0">
                <a:solidFill>
                  <a:srgbClr val="19264B"/>
                </a:solidFill>
              </a:rPr>
              <a:t>야간에 촬영된 영상</a:t>
            </a:r>
            <a:r>
              <a:rPr lang="en-US" altLang="ko-KR" sz="1300" dirty="0">
                <a:solidFill>
                  <a:srgbClr val="19264B"/>
                </a:solidFill>
              </a:rPr>
              <a:t>(</a:t>
            </a:r>
            <a:r>
              <a:rPr lang="ko-KR" altLang="en-US" sz="1300" dirty="0">
                <a:solidFill>
                  <a:srgbClr val="19264B"/>
                </a:solidFill>
              </a:rPr>
              <a:t>저조도 환경</a:t>
            </a:r>
            <a:r>
              <a:rPr lang="en-US" altLang="ko-KR" sz="1300" dirty="0">
                <a:solidFill>
                  <a:srgbClr val="19264B"/>
                </a:solidFill>
              </a:rPr>
              <a:t>)</a:t>
            </a:r>
            <a:r>
              <a:rPr lang="ko-KR" altLang="en-US" sz="1300" dirty="0">
                <a:solidFill>
                  <a:srgbClr val="19264B"/>
                </a:solidFill>
              </a:rPr>
              <a:t>에는 자글자글한 노이즈가 발생함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300" dirty="0">
                <a:solidFill>
                  <a:srgbClr val="19264B"/>
                </a:solidFill>
              </a:rPr>
              <a:t>- </a:t>
            </a:r>
            <a:r>
              <a:rPr lang="ko-KR" altLang="en-US" sz="1300" dirty="0">
                <a:solidFill>
                  <a:srgbClr val="19264B"/>
                </a:solidFill>
              </a:rPr>
              <a:t>기존 코덱은 이 </a:t>
            </a:r>
            <a:r>
              <a:rPr lang="ko-KR" altLang="en-US" sz="1300" dirty="0" err="1">
                <a:solidFill>
                  <a:srgbClr val="19264B"/>
                </a:solidFill>
              </a:rPr>
              <a:t>랜덤한</a:t>
            </a:r>
            <a:r>
              <a:rPr lang="ko-KR" altLang="en-US" sz="1300" dirty="0">
                <a:solidFill>
                  <a:srgbClr val="19264B"/>
                </a:solidFill>
              </a:rPr>
              <a:t> 노이즈를 </a:t>
            </a:r>
            <a:r>
              <a:rPr lang="en-US" altLang="ko-KR" sz="1300" dirty="0">
                <a:solidFill>
                  <a:srgbClr val="19264B"/>
                </a:solidFill>
              </a:rPr>
              <a:t>'</a:t>
            </a:r>
            <a:r>
              <a:rPr lang="ko-KR" altLang="en-US" sz="1300" dirty="0">
                <a:solidFill>
                  <a:srgbClr val="19264B"/>
                </a:solidFill>
              </a:rPr>
              <a:t>저장해야 할 중요한 픽셀 정보</a:t>
            </a:r>
            <a:r>
              <a:rPr lang="en-US" altLang="ko-KR" sz="1300" dirty="0">
                <a:solidFill>
                  <a:srgbClr val="19264B"/>
                </a:solidFill>
              </a:rPr>
              <a:t>'</a:t>
            </a:r>
            <a:r>
              <a:rPr lang="ko-KR" altLang="en-US" sz="1300" dirty="0">
                <a:solidFill>
                  <a:srgbClr val="19264B"/>
                </a:solidFill>
              </a:rPr>
              <a:t>로 착각하여 </a:t>
            </a:r>
            <a:r>
              <a:rPr lang="ko-KR" altLang="en-US" sz="1300" dirty="0" err="1">
                <a:solidFill>
                  <a:srgbClr val="19264B"/>
                </a:solidFill>
              </a:rPr>
              <a:t>비트레이트를</a:t>
            </a:r>
            <a:r>
              <a:rPr lang="ko-KR" altLang="en-US" sz="1300" dirty="0">
                <a:solidFill>
                  <a:srgbClr val="19264B"/>
                </a:solidFill>
              </a:rPr>
              <a:t> 심각하게 낭비</a:t>
            </a:r>
            <a:endParaRPr lang="en-US" altLang="ko-KR" sz="1300" dirty="0">
              <a:solidFill>
                <a:srgbClr val="19264B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300" dirty="0">
                <a:solidFill>
                  <a:srgbClr val="19264B"/>
                </a:solidFill>
              </a:rPr>
              <a:t>이러한 부분을 해결하기 위해 최근엔 노이즈 제거와 동시에 압축을 진행하는 </a:t>
            </a:r>
            <a:r>
              <a:rPr lang="en-US" altLang="ko-KR" sz="1300" dirty="0">
                <a:solidFill>
                  <a:srgbClr val="19264B"/>
                </a:solidFill>
              </a:rPr>
              <a:t>JDC </a:t>
            </a:r>
            <a:r>
              <a:rPr lang="ko-KR" altLang="en-US" sz="1300" dirty="0">
                <a:solidFill>
                  <a:srgbClr val="19264B"/>
                </a:solidFill>
              </a:rPr>
              <a:t>연구가 활발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19264B"/>
                </a:solidFill>
              </a:rPr>
              <a:t>다만</a:t>
            </a:r>
            <a:r>
              <a:rPr lang="en-US" altLang="ko-KR" sz="1300" dirty="0">
                <a:solidFill>
                  <a:srgbClr val="19264B"/>
                </a:solidFill>
              </a:rPr>
              <a:t>,</a:t>
            </a:r>
            <a:r>
              <a:rPr lang="ko-KR" altLang="en-US" sz="1300" dirty="0">
                <a:solidFill>
                  <a:srgbClr val="19264B"/>
                </a:solidFill>
              </a:rPr>
              <a:t> 기존 </a:t>
            </a:r>
            <a:r>
              <a:rPr lang="en-US" altLang="ko" sz="1300" dirty="0">
                <a:solidFill>
                  <a:srgbClr val="19264B"/>
                </a:solidFill>
              </a:rPr>
              <a:t>Joint Denoising &amp; Compression </a:t>
            </a:r>
            <a:r>
              <a:rPr lang="ko-KR" altLang="en-US" sz="1300" dirty="0">
                <a:solidFill>
                  <a:srgbClr val="19264B"/>
                </a:solidFill>
              </a:rPr>
              <a:t>연구는 인위적인 </a:t>
            </a:r>
            <a:r>
              <a:rPr lang="ko-KR" altLang="en-US" sz="1300" dirty="0" err="1">
                <a:solidFill>
                  <a:srgbClr val="19264B"/>
                </a:solidFill>
              </a:rPr>
              <a:t>가우시안</a:t>
            </a:r>
            <a:r>
              <a:rPr lang="ko-KR" altLang="en-US" sz="1300" dirty="0">
                <a:solidFill>
                  <a:srgbClr val="19264B"/>
                </a:solidFill>
              </a:rPr>
              <a:t> 노이즈</a:t>
            </a:r>
            <a:r>
              <a:rPr lang="en-US" altLang="ko-KR" sz="1300" dirty="0">
                <a:solidFill>
                  <a:srgbClr val="19264B"/>
                </a:solidFill>
              </a:rPr>
              <a:t>(</a:t>
            </a:r>
            <a:r>
              <a:rPr lang="en-US" altLang="ko" sz="1300" dirty="0">
                <a:solidFill>
                  <a:srgbClr val="19264B"/>
                </a:solidFill>
              </a:rPr>
              <a:t>Synthetic AWGN)</a:t>
            </a:r>
            <a:r>
              <a:rPr lang="ko-KR" altLang="en-US" sz="1300" dirty="0">
                <a:solidFill>
                  <a:srgbClr val="19264B"/>
                </a:solidFill>
              </a:rPr>
              <a:t>나</a:t>
            </a:r>
            <a:r>
              <a:rPr lang="en-US" altLang="ko-KR" sz="1300" dirty="0">
                <a:solidFill>
                  <a:srgbClr val="19264B"/>
                </a:solidFill>
              </a:rPr>
              <a:t> </a:t>
            </a:r>
            <a:r>
              <a:rPr lang="ko-KR" altLang="en-US" sz="1300" dirty="0">
                <a:solidFill>
                  <a:srgbClr val="19264B"/>
                </a:solidFill>
              </a:rPr>
              <a:t>밝은 대낮이나 조명이 있는 실내에서 발생한 </a:t>
            </a:r>
            <a:r>
              <a:rPr lang="en-US" altLang="ko-KR" sz="1300" dirty="0">
                <a:solidFill>
                  <a:srgbClr val="19264B"/>
                </a:solidFill>
              </a:rPr>
              <a:t>Sensor Noise </a:t>
            </a:r>
            <a:r>
              <a:rPr lang="ko-KR" altLang="en-US" sz="1300" dirty="0">
                <a:solidFill>
                  <a:srgbClr val="19264B"/>
                </a:solidFill>
              </a:rPr>
              <a:t>만 가정</a:t>
            </a: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19264B"/>
                </a:solidFill>
              </a:rPr>
              <a:t>그러나 실제 야간 방범 </a:t>
            </a:r>
            <a:r>
              <a:rPr lang="en-US" altLang="ko-KR" sz="1300" dirty="0">
                <a:solidFill>
                  <a:srgbClr val="19264B"/>
                </a:solidFill>
              </a:rPr>
              <a:t>CCTV, </a:t>
            </a:r>
            <a:r>
              <a:rPr lang="ko-KR" altLang="en-US" sz="1300" dirty="0">
                <a:solidFill>
                  <a:srgbClr val="19264B"/>
                </a:solidFill>
              </a:rPr>
              <a:t>산악 </a:t>
            </a:r>
            <a:r>
              <a:rPr lang="ko-KR" altLang="en-US" sz="1300" dirty="0" err="1">
                <a:solidFill>
                  <a:srgbClr val="19264B"/>
                </a:solidFill>
              </a:rPr>
              <a:t>드론</a:t>
            </a:r>
            <a:r>
              <a:rPr lang="ko-KR" altLang="en-US" sz="1300" dirty="0">
                <a:solidFill>
                  <a:srgbClr val="19264B"/>
                </a:solidFill>
              </a:rPr>
              <a:t> 환경은 </a:t>
            </a:r>
            <a:r>
              <a:rPr lang="ko-KR" altLang="en-US" sz="1300" dirty="0" err="1">
                <a:solidFill>
                  <a:srgbClr val="19264B"/>
                </a:solidFill>
              </a:rPr>
              <a:t>노이즈뿐만</a:t>
            </a:r>
            <a:r>
              <a:rPr lang="ko-KR" altLang="en-US" sz="1300" dirty="0">
                <a:solidFill>
                  <a:srgbClr val="19264B"/>
                </a:solidFill>
              </a:rPr>
              <a:t> 아니라 빛 자체가 부족한 </a:t>
            </a:r>
            <a:r>
              <a:rPr lang="en-US" altLang="ko-KR" sz="1300" dirty="0">
                <a:solidFill>
                  <a:srgbClr val="19264B"/>
                </a:solidFill>
              </a:rPr>
              <a:t>'</a:t>
            </a:r>
            <a:r>
              <a:rPr lang="ko-KR" altLang="en-US" sz="1300" dirty="0" err="1">
                <a:solidFill>
                  <a:srgbClr val="19264B"/>
                </a:solidFill>
              </a:rPr>
              <a:t>극저조도</a:t>
            </a:r>
            <a:r>
              <a:rPr lang="en-US" altLang="ko-KR" sz="1300" dirty="0">
                <a:solidFill>
                  <a:srgbClr val="19264B"/>
                </a:solidFill>
              </a:rPr>
              <a:t>’ </a:t>
            </a:r>
            <a:r>
              <a:rPr lang="ko-KR" altLang="en-US" sz="1300" dirty="0">
                <a:solidFill>
                  <a:srgbClr val="19264B"/>
                </a:solidFill>
              </a:rPr>
              <a:t>환경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1300" dirty="0">
                <a:solidFill>
                  <a:srgbClr val="19264B"/>
                </a:solidFill>
              </a:rPr>
            </a:br>
            <a:r>
              <a:rPr lang="ko-KR" altLang="en-US" sz="1300" dirty="0">
                <a:solidFill>
                  <a:srgbClr val="19264B"/>
                </a:solidFill>
              </a:rPr>
              <a:t>또한</a:t>
            </a:r>
            <a:r>
              <a:rPr lang="en-US" altLang="ko-KR" sz="1300" dirty="0">
                <a:solidFill>
                  <a:srgbClr val="19264B"/>
                </a:solidFill>
              </a:rPr>
              <a:t>, loss</a:t>
            </a:r>
            <a:r>
              <a:rPr lang="ko-KR" altLang="en-US" sz="1300" dirty="0">
                <a:solidFill>
                  <a:srgbClr val="19264B"/>
                </a:solidFill>
              </a:rPr>
              <a:t>로 픽셀 간 </a:t>
            </a:r>
            <a:r>
              <a:rPr lang="en-US" altLang="ko-KR" sz="1300" dirty="0">
                <a:solidFill>
                  <a:srgbClr val="19264B"/>
                </a:solidFill>
              </a:rPr>
              <a:t>MSE </a:t>
            </a:r>
            <a:r>
              <a:rPr lang="ko-KR" altLang="en-US" sz="1300" dirty="0">
                <a:solidFill>
                  <a:srgbClr val="19264B"/>
                </a:solidFill>
              </a:rPr>
              <a:t>사용하다 보니 객체의 윤곽선과 간판 글씨 등 고주파 성분이 뭉개지는 </a:t>
            </a:r>
            <a:r>
              <a:rPr lang="en-US" altLang="ko-KR" sz="1300" dirty="0" err="1">
                <a:solidFill>
                  <a:srgbClr val="19264B"/>
                </a:solidFill>
              </a:rPr>
              <a:t>Oversmoothing</a:t>
            </a:r>
            <a:r>
              <a:rPr lang="en-US" altLang="ko-KR" sz="1300" dirty="0">
                <a:solidFill>
                  <a:srgbClr val="19264B"/>
                </a:solidFill>
              </a:rPr>
              <a:t> </a:t>
            </a:r>
            <a:r>
              <a:rPr lang="ko-KR" altLang="en-US" sz="1300" dirty="0">
                <a:solidFill>
                  <a:srgbClr val="19264B"/>
                </a:solidFill>
              </a:rPr>
              <a:t>문제 또한 발생</a:t>
            </a: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00f5af53_1_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ab00f5af53_1_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7" name="Google Shape;77;g3ab00f5af53_1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ab00f5af53_1_4"/>
          <p:cNvSpPr txBox="1"/>
          <p:nvPr/>
        </p:nvSpPr>
        <p:spPr>
          <a:xfrm>
            <a:off x="1606850" y="4204575"/>
            <a:ext cx="727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179EFF-F118-64E4-8E12-256809751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850" y="66884"/>
            <a:ext cx="6771396" cy="25048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262BE9-0516-2A17-9C36-A4FD06668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6838" y="2689243"/>
            <a:ext cx="6771396" cy="2327523"/>
          </a:xfrm>
          <a:prstGeom prst="rect">
            <a:avLst/>
          </a:prstGeom>
        </p:spPr>
      </p:pic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51543221-59A1-BA93-AF45-F31547BBFC97}"/>
              </a:ext>
            </a:extLst>
          </p:cNvPr>
          <p:cNvSpPr/>
          <p:nvPr/>
        </p:nvSpPr>
        <p:spPr>
          <a:xfrm>
            <a:off x="4295585" y="386576"/>
            <a:ext cx="696951" cy="72854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1BB5BBB8-7E02-9C2A-4E53-B10809ED5FF7}"/>
              </a:ext>
            </a:extLst>
          </p:cNvPr>
          <p:cNvSpPr/>
          <p:nvPr/>
        </p:nvSpPr>
        <p:spPr>
          <a:xfrm>
            <a:off x="7681271" y="367648"/>
            <a:ext cx="696951" cy="72854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77AE0D66-C6BD-24EE-6E0E-53D2B2FB54BC}"/>
              </a:ext>
            </a:extLst>
          </p:cNvPr>
          <p:cNvSpPr/>
          <p:nvPr/>
        </p:nvSpPr>
        <p:spPr>
          <a:xfrm>
            <a:off x="2518256" y="2933312"/>
            <a:ext cx="696951" cy="72854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40DE2302-4529-4C03-EE9C-06960BEB8763}"/>
              </a:ext>
            </a:extLst>
          </p:cNvPr>
          <p:cNvSpPr/>
          <p:nvPr/>
        </p:nvSpPr>
        <p:spPr>
          <a:xfrm>
            <a:off x="5928795" y="2915268"/>
            <a:ext cx="696951" cy="72854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74C2ECC-5174-FFA9-2E28-ABC43EDF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>
            <a:extLst>
              <a:ext uri="{FF2B5EF4-FFF2-40B4-BE49-F238E27FC236}">
                <a16:creationId xmlns:a16="http://schemas.microsoft.com/office/drawing/2014/main" id="{AFCC26AA-A55D-3ED5-8F6D-6912EABE15C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>
            <a:extLst>
              <a:ext uri="{FF2B5EF4-FFF2-40B4-BE49-F238E27FC236}">
                <a16:creationId xmlns:a16="http://schemas.microsoft.com/office/drawing/2014/main" id="{040E88C2-73A2-8ADA-FF34-6312B3D14D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>
            <a:extLst>
              <a:ext uri="{FF2B5EF4-FFF2-40B4-BE49-F238E27FC236}">
                <a16:creationId xmlns:a16="http://schemas.microsoft.com/office/drawing/2014/main" id="{F3CFF65D-DA13-B04C-E5AE-F8D3AAF52A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>
            <a:extLst>
              <a:ext uri="{FF2B5EF4-FFF2-40B4-BE49-F238E27FC236}">
                <a16:creationId xmlns:a16="http://schemas.microsoft.com/office/drawing/2014/main" id="{461D57E3-19AD-84C9-5020-9FB6734E60B2}"/>
              </a:ext>
            </a:extLst>
          </p:cNvPr>
          <p:cNvSpPr txBox="1"/>
          <p:nvPr/>
        </p:nvSpPr>
        <p:spPr>
          <a:xfrm>
            <a:off x="1408975" y="373782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주제</a:t>
            </a:r>
            <a:endParaRPr sz="2000" b="1" i="0" u="none" strike="noStrike" cap="none" dirty="0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" name="Google Shape;70;g3ab00f5af53_0_8">
            <a:extLst>
              <a:ext uri="{FF2B5EF4-FFF2-40B4-BE49-F238E27FC236}">
                <a16:creationId xmlns:a16="http://schemas.microsoft.com/office/drawing/2014/main" id="{E169504F-B3A6-078A-4D50-F3EFD9FA556A}"/>
              </a:ext>
            </a:extLst>
          </p:cNvPr>
          <p:cNvSpPr txBox="1"/>
          <p:nvPr/>
        </p:nvSpPr>
        <p:spPr>
          <a:xfrm>
            <a:off x="1493100" y="1055550"/>
            <a:ext cx="7478025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19264B"/>
                </a:solidFill>
              </a:rPr>
              <a:t>기존 연구의 한계</a:t>
            </a:r>
            <a:r>
              <a:rPr lang="en-US" altLang="ko-KR" sz="1300" dirty="0">
                <a:solidFill>
                  <a:srgbClr val="19264B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1. Task </a:t>
            </a:r>
            <a:r>
              <a:rPr lang="ko-KR" altLang="en-US" sz="1300" dirty="0">
                <a:solidFill>
                  <a:srgbClr val="19264B"/>
                </a:solidFill>
              </a:rPr>
              <a:t>한계</a:t>
            </a:r>
            <a:r>
              <a:rPr lang="en-US" altLang="ko-KR" sz="1300" dirty="0">
                <a:solidFill>
                  <a:srgbClr val="19264B"/>
                </a:solidFill>
              </a:rPr>
              <a:t>: </a:t>
            </a:r>
            <a:r>
              <a:rPr lang="ko-KR" altLang="en-US" sz="1300" dirty="0">
                <a:solidFill>
                  <a:srgbClr val="19264B"/>
                </a:solidFill>
              </a:rPr>
              <a:t>단순 노이즈 제거에 그칠 뿐</a:t>
            </a:r>
            <a:r>
              <a:rPr lang="en-US" altLang="ko-KR" sz="1300" dirty="0">
                <a:solidFill>
                  <a:srgbClr val="19264B"/>
                </a:solidFill>
              </a:rPr>
              <a:t>, '</a:t>
            </a:r>
            <a:r>
              <a:rPr lang="ko-KR" altLang="en-US" sz="1300" dirty="0" err="1">
                <a:solidFill>
                  <a:srgbClr val="19264B"/>
                </a:solidFill>
              </a:rPr>
              <a:t>극저조도</a:t>
            </a:r>
            <a:r>
              <a:rPr lang="ko-KR" altLang="en-US" sz="1300" dirty="0">
                <a:solidFill>
                  <a:srgbClr val="19264B"/>
                </a:solidFill>
              </a:rPr>
              <a:t> 환경</a:t>
            </a:r>
            <a:r>
              <a:rPr lang="en-US" altLang="ko-KR" sz="1300" dirty="0">
                <a:solidFill>
                  <a:srgbClr val="19264B"/>
                </a:solidFill>
              </a:rPr>
              <a:t>'</a:t>
            </a:r>
            <a:r>
              <a:rPr lang="ko-KR" altLang="en-US" sz="1300" dirty="0">
                <a:solidFill>
                  <a:srgbClr val="19264B"/>
                </a:solidFill>
              </a:rPr>
              <a:t>을 다루지 않음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2. </a:t>
            </a:r>
            <a:r>
              <a:rPr lang="ko-KR" altLang="en-US" sz="1300" dirty="0">
                <a:solidFill>
                  <a:srgbClr val="19264B"/>
                </a:solidFill>
              </a:rPr>
              <a:t>실용성 한계</a:t>
            </a:r>
            <a:r>
              <a:rPr lang="en-US" altLang="ko-KR" sz="1300" dirty="0">
                <a:solidFill>
                  <a:srgbClr val="19264B"/>
                </a:solidFill>
              </a:rPr>
              <a:t>: </a:t>
            </a:r>
            <a:r>
              <a:rPr lang="ko-KR" altLang="en-US" sz="1300" dirty="0">
                <a:solidFill>
                  <a:srgbClr val="19264B"/>
                </a:solidFill>
              </a:rPr>
              <a:t>무거운 모델 구조로 인해 </a:t>
            </a:r>
            <a:r>
              <a:rPr lang="en-US" altLang="ko-KR" sz="1300" dirty="0">
                <a:solidFill>
                  <a:srgbClr val="19264B"/>
                </a:solidFill>
              </a:rPr>
              <a:t>Edge </a:t>
            </a:r>
            <a:r>
              <a:rPr lang="ko-KR" altLang="en-US" sz="1300" dirty="0">
                <a:solidFill>
                  <a:srgbClr val="19264B"/>
                </a:solidFill>
              </a:rPr>
              <a:t>디바이스</a:t>
            </a:r>
            <a:r>
              <a:rPr lang="en-US" altLang="ko-KR" sz="1300" dirty="0">
                <a:solidFill>
                  <a:srgbClr val="19264B"/>
                </a:solidFill>
              </a:rPr>
              <a:t>(CCTV/</a:t>
            </a:r>
            <a:r>
              <a:rPr lang="ko-KR" altLang="en-US" sz="1300" dirty="0" err="1">
                <a:solidFill>
                  <a:srgbClr val="19264B"/>
                </a:solidFill>
              </a:rPr>
              <a:t>드론</a:t>
            </a:r>
            <a:r>
              <a:rPr lang="en-US" altLang="ko-KR" sz="1300" dirty="0">
                <a:solidFill>
                  <a:srgbClr val="19264B"/>
                </a:solidFill>
              </a:rPr>
              <a:t>) </a:t>
            </a:r>
            <a:r>
              <a:rPr lang="ko-KR" altLang="en-US" sz="1300" dirty="0">
                <a:solidFill>
                  <a:srgbClr val="19264B"/>
                </a:solidFill>
              </a:rPr>
              <a:t>탑재 불가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3. </a:t>
            </a:r>
            <a:r>
              <a:rPr lang="ko-KR" altLang="en-US" sz="1300" dirty="0">
                <a:solidFill>
                  <a:srgbClr val="19264B"/>
                </a:solidFill>
              </a:rPr>
              <a:t>화질 한계</a:t>
            </a:r>
            <a:r>
              <a:rPr lang="en-US" altLang="ko-KR" sz="1300" dirty="0">
                <a:solidFill>
                  <a:srgbClr val="19264B"/>
                </a:solidFill>
              </a:rPr>
              <a:t>: </a:t>
            </a:r>
            <a:r>
              <a:rPr lang="ko-KR" altLang="en-US" sz="1300" dirty="0">
                <a:solidFill>
                  <a:srgbClr val="19264B"/>
                </a:solidFill>
              </a:rPr>
              <a:t>저조도 복원 시 발생하는 윤곽선 </a:t>
            </a:r>
            <a:r>
              <a:rPr lang="en-US" altLang="ko-KR" sz="1300" dirty="0" err="1">
                <a:solidFill>
                  <a:srgbClr val="19264B"/>
                </a:solidFill>
              </a:rPr>
              <a:t>Oversmoothing</a:t>
            </a:r>
            <a:r>
              <a:rPr lang="en-US" altLang="ko-KR" sz="1300" dirty="0">
                <a:solidFill>
                  <a:srgbClr val="19264B"/>
                </a:solidFill>
              </a:rPr>
              <a:t> </a:t>
            </a:r>
            <a:r>
              <a:rPr lang="ko-KR" altLang="en-US" sz="1300" dirty="0">
                <a:solidFill>
                  <a:srgbClr val="19264B"/>
                </a:solidFill>
              </a:rPr>
              <a:t>문제 잔존</a:t>
            </a:r>
            <a:r>
              <a:rPr lang="en-US" altLang="ko-KR" sz="1300" dirty="0">
                <a:solidFill>
                  <a:srgbClr val="19264B"/>
                </a:solidFill>
              </a:rPr>
              <a:t>.</a:t>
            </a:r>
          </a:p>
        </p:txBody>
      </p:sp>
      <p:sp>
        <p:nvSpPr>
          <p:cNvPr id="3" name="Google Shape;70;g3ab00f5af53_0_8">
            <a:extLst>
              <a:ext uri="{FF2B5EF4-FFF2-40B4-BE49-F238E27FC236}">
                <a16:creationId xmlns:a16="http://schemas.microsoft.com/office/drawing/2014/main" id="{6FFA3620-E853-E6C9-BDDB-6717A7D92F8B}"/>
              </a:ext>
            </a:extLst>
          </p:cNvPr>
          <p:cNvSpPr txBox="1"/>
          <p:nvPr/>
        </p:nvSpPr>
        <p:spPr>
          <a:xfrm>
            <a:off x="1493100" y="2657609"/>
            <a:ext cx="7478025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Our Solution: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00" dirty="0">
                <a:solidFill>
                  <a:srgbClr val="19264B"/>
                </a:solidFill>
              </a:rPr>
              <a:t>LOL </a:t>
            </a:r>
            <a:r>
              <a:rPr lang="ko-KR" altLang="en-US" sz="1300" dirty="0">
                <a:solidFill>
                  <a:srgbClr val="19264B"/>
                </a:solidFill>
              </a:rPr>
              <a:t>데이터셋 </a:t>
            </a:r>
            <a:r>
              <a:rPr lang="en-US" altLang="ko-KR" sz="1300" dirty="0">
                <a:solidFill>
                  <a:srgbClr val="19264B"/>
                </a:solidFill>
              </a:rPr>
              <a:t>(Enhancement) + CBAM (Edge </a:t>
            </a:r>
            <a:r>
              <a:rPr lang="ko-KR" altLang="en-US" sz="1300">
                <a:solidFill>
                  <a:srgbClr val="19264B"/>
                </a:solidFill>
              </a:rPr>
              <a:t>디바이스 탑재</a:t>
            </a:r>
            <a:r>
              <a:rPr lang="en-US" altLang="ko-KR" sz="1300" dirty="0">
                <a:solidFill>
                  <a:srgbClr val="19264B"/>
                </a:solidFill>
              </a:rPr>
              <a:t>) + Edge Loss (</a:t>
            </a:r>
            <a:r>
              <a:rPr lang="ko-KR" altLang="en-US" sz="1300" dirty="0">
                <a:solidFill>
                  <a:srgbClr val="19264B"/>
                </a:solidFill>
              </a:rPr>
              <a:t>윤곽선 보존</a:t>
            </a:r>
            <a:r>
              <a:rPr lang="en-US" altLang="ko-KR" sz="1300" dirty="0">
                <a:solidFill>
                  <a:srgbClr val="19264B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300" dirty="0">
              <a:solidFill>
                <a:srgbClr val="1926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96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8F31C895-9140-E63A-1245-CE9D0E1B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>
            <a:extLst>
              <a:ext uri="{FF2B5EF4-FFF2-40B4-BE49-F238E27FC236}">
                <a16:creationId xmlns:a16="http://schemas.microsoft.com/office/drawing/2014/main" id="{68540FD8-2D91-903B-56A9-52914B1A361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>
            <a:extLst>
              <a:ext uri="{FF2B5EF4-FFF2-40B4-BE49-F238E27FC236}">
                <a16:creationId xmlns:a16="http://schemas.microsoft.com/office/drawing/2014/main" id="{571F47B1-ED79-84C6-A6C6-E16927D8269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>
            <a:extLst>
              <a:ext uri="{FF2B5EF4-FFF2-40B4-BE49-F238E27FC236}">
                <a16:creationId xmlns:a16="http://schemas.microsoft.com/office/drawing/2014/main" id="{001D96E0-6CE7-C726-CE10-9F15630842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>
            <a:extLst>
              <a:ext uri="{FF2B5EF4-FFF2-40B4-BE49-F238E27FC236}">
                <a16:creationId xmlns:a16="http://schemas.microsoft.com/office/drawing/2014/main" id="{B9EE664A-A26D-F840-97F2-73FAFDB8A2E1}"/>
              </a:ext>
            </a:extLst>
          </p:cNvPr>
          <p:cNvSpPr txBox="1"/>
          <p:nvPr/>
        </p:nvSpPr>
        <p:spPr>
          <a:xfrm>
            <a:off x="1408975" y="373782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GPU</a:t>
            </a:r>
            <a:r>
              <a:rPr lang="ko-KR" altLang="en-US" sz="2000" b="1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 자원 규모</a:t>
            </a:r>
            <a:r>
              <a:rPr lang="en-US" altLang="ko-KR" sz="2000" b="1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(</a:t>
            </a:r>
            <a:r>
              <a:rPr lang="ko-KR" altLang="en-US" sz="2000" b="1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필요량</a:t>
            </a:r>
            <a:r>
              <a:rPr lang="en-US" altLang="ko-KR" sz="2000" b="1" dirty="0">
                <a:solidFill>
                  <a:srgbClr val="19264B"/>
                </a:solidFill>
                <a:latin typeface="Nanum Gothic"/>
                <a:ea typeface="Nanum Gothic"/>
                <a:cs typeface="Nanum Gothic"/>
                <a:sym typeface="Nanum Gothic"/>
              </a:rPr>
              <a:t>)</a:t>
            </a:r>
            <a:endParaRPr sz="2000" b="1" i="0" u="none" strike="noStrike" cap="none" dirty="0">
              <a:solidFill>
                <a:srgbClr val="19264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0" name="Google Shape;70;g3ab00f5af53_0_8">
            <a:extLst>
              <a:ext uri="{FF2B5EF4-FFF2-40B4-BE49-F238E27FC236}">
                <a16:creationId xmlns:a16="http://schemas.microsoft.com/office/drawing/2014/main" id="{67D0F71F-028A-542F-DB4F-2FE60DAB1373}"/>
              </a:ext>
            </a:extLst>
          </p:cNvPr>
          <p:cNvSpPr txBox="1"/>
          <p:nvPr/>
        </p:nvSpPr>
        <p:spPr>
          <a:xfrm>
            <a:off x="1493100" y="2142962"/>
            <a:ext cx="7478025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19264B"/>
                </a:solidFill>
              </a:rPr>
              <a:t>필요 사양</a:t>
            </a:r>
            <a:r>
              <a:rPr lang="en-US" altLang="ko-KR" sz="1300" dirty="0">
                <a:solidFill>
                  <a:srgbClr val="19264B"/>
                </a:solidFill>
              </a:rPr>
              <a:t>: VRAM 24GB </a:t>
            </a:r>
            <a:r>
              <a:rPr lang="ko-KR" altLang="en-US" sz="1300" dirty="0">
                <a:solidFill>
                  <a:srgbClr val="19264B"/>
                </a:solidFill>
              </a:rPr>
              <a:t>이상 </a:t>
            </a:r>
            <a:r>
              <a:rPr lang="en-US" altLang="ko-KR" sz="1300" dirty="0">
                <a:solidFill>
                  <a:srgbClr val="19264B"/>
                </a:solidFill>
              </a:rPr>
              <a:t>GPU 1</a:t>
            </a:r>
            <a:r>
              <a:rPr lang="ko-KR" altLang="en-US" sz="1300" dirty="0">
                <a:solidFill>
                  <a:srgbClr val="19264B"/>
                </a:solidFill>
              </a:rPr>
              <a:t>대 </a:t>
            </a:r>
            <a:r>
              <a:rPr lang="en-US" altLang="ko-KR" sz="1300" dirty="0">
                <a:solidFill>
                  <a:srgbClr val="19264B"/>
                </a:solidFill>
              </a:rPr>
              <a:t>(RTX 3090, RTX 4090, A5000 </a:t>
            </a:r>
            <a:r>
              <a:rPr lang="ko-KR" altLang="en-US" sz="1300" dirty="0">
                <a:solidFill>
                  <a:srgbClr val="19264B"/>
                </a:solidFill>
              </a:rPr>
              <a:t>등</a:t>
            </a:r>
            <a:r>
              <a:rPr lang="en-US" altLang="ko-KR" sz="1300" dirty="0">
                <a:solidFill>
                  <a:srgbClr val="19264B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dirty="0">
                <a:solidFill>
                  <a:srgbClr val="19264B"/>
                </a:solidFill>
              </a:rPr>
              <a:t>집중 사용 기간</a:t>
            </a:r>
            <a:r>
              <a:rPr lang="en-US" altLang="ko-KR" sz="1300" dirty="0">
                <a:solidFill>
                  <a:srgbClr val="19264B"/>
                </a:solidFill>
              </a:rPr>
              <a:t>: </a:t>
            </a:r>
            <a:r>
              <a:rPr lang="ko-KR" altLang="en-US" sz="1300" dirty="0">
                <a:solidFill>
                  <a:srgbClr val="19264B"/>
                </a:solidFill>
              </a:rPr>
              <a:t>프로젝트 </a:t>
            </a:r>
            <a:r>
              <a:rPr lang="en-US" altLang="ko-KR" sz="1300" dirty="0">
                <a:solidFill>
                  <a:srgbClr val="19264B"/>
                </a:solidFill>
              </a:rPr>
              <a:t>3</a:t>
            </a:r>
            <a:r>
              <a:rPr lang="ko-KR" altLang="en-US" sz="1300" dirty="0">
                <a:solidFill>
                  <a:srgbClr val="19264B"/>
                </a:solidFill>
              </a:rPr>
              <a:t>주 차 </a:t>
            </a:r>
            <a:r>
              <a:rPr lang="en-US" altLang="ko-KR" sz="1300" dirty="0">
                <a:solidFill>
                  <a:srgbClr val="19264B"/>
                </a:solidFill>
              </a:rPr>
              <a:t>~ 5</a:t>
            </a:r>
            <a:r>
              <a:rPr lang="ko-KR" altLang="en-US" sz="1300" dirty="0">
                <a:solidFill>
                  <a:srgbClr val="19264B"/>
                </a:solidFill>
              </a:rPr>
              <a:t>주 차 </a:t>
            </a:r>
            <a:r>
              <a:rPr lang="en-US" altLang="ko-KR" sz="1300" dirty="0">
                <a:solidFill>
                  <a:srgbClr val="19264B"/>
                </a:solidFill>
              </a:rPr>
              <a:t>(</a:t>
            </a:r>
            <a:r>
              <a:rPr lang="ko-KR" altLang="en-US" sz="1300" dirty="0">
                <a:solidFill>
                  <a:srgbClr val="19264B"/>
                </a:solidFill>
              </a:rPr>
              <a:t>약 </a:t>
            </a:r>
            <a:r>
              <a:rPr lang="en-US" altLang="ko-KR" sz="1300" dirty="0">
                <a:solidFill>
                  <a:srgbClr val="19264B"/>
                </a:solidFill>
              </a:rPr>
              <a:t>3</a:t>
            </a:r>
            <a:r>
              <a:rPr lang="ko-KR" altLang="en-US" sz="1300" dirty="0">
                <a:solidFill>
                  <a:srgbClr val="19264B"/>
                </a:solidFill>
              </a:rPr>
              <a:t>주간 연속 가동 예정</a:t>
            </a:r>
            <a:r>
              <a:rPr lang="en-US" altLang="ko-KR" sz="1300" dirty="0">
                <a:solidFill>
                  <a:srgbClr val="19264B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951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0c4636bd_0_5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g39f0c4636bd_0_5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1" name="Google Shape;101;g39f0c4636bd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9f0c4636bd_0_57"/>
          <p:cNvSpPr txBox="1"/>
          <p:nvPr/>
        </p:nvSpPr>
        <p:spPr>
          <a:xfrm>
            <a:off x="3810000" y="2217750"/>
            <a:ext cx="2373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ko" sz="3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3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341</Words>
  <Application>Microsoft Office PowerPoint</Application>
  <PresentationFormat>화면 슬라이드 쇼(16:9)</PresentationFormat>
  <Paragraphs>31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Nanum Gothic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HOME KR</cp:lastModifiedBy>
  <cp:revision>4</cp:revision>
  <dcterms:modified xsi:type="dcterms:W3CDTF">2026-07-05T13:26:27Z</dcterms:modified>
</cp:coreProperties>
</file>